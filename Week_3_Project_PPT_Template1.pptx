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5" r:id="rId1"/>
  </p:sldMasterIdLst>
  <p:sldIdLst>
    <p:sldId id="256" r:id="rId2"/>
    <p:sldId id="257" r:id="rId3"/>
    <p:sldId id="258" r:id="rId4"/>
    <p:sldId id="259" r:id="rId5"/>
    <p:sldId id="260" r:id="rId6"/>
    <p:sldId id="261" r:id="rId7"/>
    <p:sldId id="263" r:id="rId8"/>
    <p:sldId id="262" r:id="rId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792">
          <p15:clr>
            <a:srgbClr val="A4A3A4"/>
          </p15:clr>
        </p15:guide>
        <p15:guide id="2" pos="192">
          <p15:clr>
            <a:srgbClr val="A4A3A4"/>
          </p15:clr>
        </p15:guide>
        <p15:guide id="3" orient="horz" pos="1080">
          <p15:clr>
            <a:srgbClr val="A4A3A4"/>
          </p15:clr>
        </p15:guide>
      </p15:sldGuideLst>
    </p:ext>
    <p:ext uri="http://customooxmlschemas.google.com/">
      <go:slidesCustomData xmlns=""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220" roundtripDataSignature="AMtx7miWNY2LB4ETJwrL8F0N+EK9hEhqU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94D8F"/>
    <a:srgbClr val="C5D3FF"/>
    <a:srgbClr val="003063"/>
    <a:srgbClr val="667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9" d="100"/>
          <a:sy n="79" d="100"/>
        </p:scale>
        <p:origin x="773" y="72"/>
      </p:cViewPr>
      <p:guideLst>
        <p:guide orient="horz" pos="792"/>
        <p:guide pos="192"/>
        <p:guide orient="horz" pos="10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22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22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20" Type="http://customschemas.google.com/relationships/presentationmetadata" Target="metadata"/><Relationship Id="rId5" Type="http://schemas.openxmlformats.org/officeDocument/2006/relationships/slide" Target="slides/slide4.xml"/><Relationship Id="rId22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2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413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7878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2771877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826647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pic>
        <p:nvPicPr>
          <p:cNvPr id="13" name="Google Shape;110;p4" descr="A close up of a sign&#10;&#10;Description automatically generated">
            <a:extLst>
              <a:ext uri="{FF2B5EF4-FFF2-40B4-BE49-F238E27FC236}">
                <a16:creationId xmlns:a16="http://schemas.microsoft.com/office/drawing/2014/main" id="{CE849A3B-BCF0-B774-F89E-81965C71F93E}"/>
              </a:ext>
            </a:extLst>
          </p:cNvPr>
          <p:cNvPicPr preferRelativeResize="0"/>
          <p:nvPr/>
        </p:nvPicPr>
        <p:blipFill rotWithShape="1">
          <a:blip r:embed="rId6">
            <a:alphaModFix/>
          </a:blip>
          <a:srcRect/>
          <a:stretch/>
        </p:blipFill>
        <p:spPr>
          <a:xfrm>
            <a:off x="10072688" y="78002"/>
            <a:ext cx="1800225" cy="575514"/>
          </a:xfrm>
          <a:prstGeom prst="rect">
            <a:avLst/>
          </a:prstGeom>
          <a:noFill/>
          <a:ln>
            <a:noFill/>
          </a:ln>
        </p:spPr>
      </p:pic>
      <p:sp>
        <p:nvSpPr>
          <p:cNvPr id="15" name="Rectangle 14">
            <a:extLst>
              <a:ext uri="{FF2B5EF4-FFF2-40B4-BE49-F238E27FC236}">
                <a16:creationId xmlns:a16="http://schemas.microsoft.com/office/drawing/2014/main" id="{E153E6A6-60E4-FE14-1CBC-8CC211274D1C}"/>
              </a:ext>
            </a:extLst>
          </p:cNvPr>
          <p:cNvSpPr/>
          <p:nvPr/>
        </p:nvSpPr>
        <p:spPr>
          <a:xfrm>
            <a:off x="1" y="0"/>
            <a:ext cx="9829800" cy="717630"/>
          </a:xfrm>
          <a:prstGeom prst="rect">
            <a:avLst/>
          </a:prstGeom>
          <a:solidFill>
            <a:srgbClr val="213264"/>
          </a:solidFill>
          <a:ln>
            <a:solidFill>
              <a:srgbClr val="21326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2C7CE881-772B-9023-3054-4B219B75D755}"/>
              </a:ext>
            </a:extLst>
          </p:cNvPr>
          <p:cNvSpPr/>
          <p:nvPr/>
        </p:nvSpPr>
        <p:spPr>
          <a:xfrm>
            <a:off x="9888967" y="-419"/>
            <a:ext cx="112283" cy="732357"/>
          </a:xfrm>
          <a:prstGeom prst="rect">
            <a:avLst/>
          </a:prstGeom>
          <a:solidFill>
            <a:srgbClr val="7FBA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descr="A blue and white background&#10;&#10;Description automatically generated with medium confidence">
            <a:extLst>
              <a:ext uri="{FF2B5EF4-FFF2-40B4-BE49-F238E27FC236}">
                <a16:creationId xmlns:a16="http://schemas.microsoft.com/office/drawing/2014/main" id="{16A7B69A-9B14-87FE-841D-37F0A91D141D}"/>
              </a:ext>
            </a:extLst>
          </p:cNvPr>
          <p:cNvPicPr>
            <a:picLocks noChangeAspect="1"/>
          </p:cNvPicPr>
          <p:nvPr/>
        </p:nvPicPr>
        <p:blipFill rotWithShape="1">
          <a:blip r:embed="rId7">
            <a:alphaModFix amt="16000"/>
          </a:blip>
          <a:srcRect t="24724" r="1619" b="63695"/>
          <a:stretch/>
        </p:blipFill>
        <p:spPr>
          <a:xfrm>
            <a:off x="0" y="-1"/>
            <a:ext cx="9839325" cy="723901"/>
          </a:xfrm>
          <a:prstGeom prst="rect">
            <a:avLst/>
          </a:prstGeom>
        </p:spPr>
      </p:pic>
      <p:sp>
        <p:nvSpPr>
          <p:cNvPr id="2" name="Rectangle 1">
            <a:extLst>
              <a:ext uri="{FF2B5EF4-FFF2-40B4-BE49-F238E27FC236}">
                <a16:creationId xmlns:a16="http://schemas.microsoft.com/office/drawing/2014/main" id="{37B91A16-5D54-2FC0-B0FD-A78085FC1313}"/>
              </a:ext>
            </a:extLst>
          </p:cNvPr>
          <p:cNvSpPr/>
          <p:nvPr/>
        </p:nvSpPr>
        <p:spPr>
          <a:xfrm>
            <a:off x="11925300" y="-419"/>
            <a:ext cx="266700" cy="732357"/>
          </a:xfrm>
          <a:prstGeom prst="rect">
            <a:avLst/>
          </a:prstGeom>
          <a:solidFill>
            <a:srgbClr val="FED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 bg1="lt1" tx1="dk1" bg2="dk2" tx2="lt2" accent1="accent1" accent2="accent2" accent3="accent3" accent4="accent4" accent5="accent5" accent6="accent6" hlink="hlink" folHlink="folHlink"/>
  <p:sldLayoutIdLst>
    <p:sldLayoutId id="2147483687" r:id="rId1"/>
    <p:sldLayoutId id="2147483701" r:id="rId2"/>
    <p:sldLayoutId id="2147483714" r:id="rId3"/>
    <p:sldLayoutId id="2147483727"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freepik.co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person sitting at a desk with a computer&#10;&#10;Description automatically generated">
            <a:extLst>
              <a:ext uri="{FF2B5EF4-FFF2-40B4-BE49-F238E27FC236}">
                <a16:creationId xmlns:a16="http://schemas.microsoft.com/office/drawing/2014/main" id="{07B8740D-C76F-46FC-AEFB-23FB0614DB0C}"/>
              </a:ext>
            </a:extLst>
          </p:cNvPr>
          <p:cNvPicPr>
            <a:picLocks noChangeAspect="1"/>
          </p:cNvPicPr>
          <p:nvPr/>
        </p:nvPicPr>
        <p:blipFill>
          <a:blip r:embed="rId2"/>
          <a:stretch>
            <a:fillRect/>
          </a:stretch>
        </p:blipFill>
        <p:spPr>
          <a:xfrm>
            <a:off x="0" y="0"/>
            <a:ext cx="12192000" cy="6858000"/>
          </a:xfrm>
          <a:prstGeom prst="rect">
            <a:avLst/>
          </a:prstGeom>
        </p:spPr>
      </p:pic>
      <p:sp>
        <p:nvSpPr>
          <p:cNvPr id="4" name="Rectangle: Rounded Corners 3">
            <a:extLst>
              <a:ext uri="{FF2B5EF4-FFF2-40B4-BE49-F238E27FC236}">
                <a16:creationId xmlns:a16="http://schemas.microsoft.com/office/drawing/2014/main" id="{C1857762-AD52-483C-B3E1-635C5BBC6F2F}"/>
              </a:ext>
            </a:extLst>
          </p:cNvPr>
          <p:cNvSpPr/>
          <p:nvPr/>
        </p:nvSpPr>
        <p:spPr>
          <a:xfrm>
            <a:off x="5873750" y="584200"/>
            <a:ext cx="4673600" cy="977900"/>
          </a:xfrm>
          <a:prstGeom prst="roundRect">
            <a:avLst/>
          </a:prstGeom>
          <a:solidFill>
            <a:srgbClr val="EBEEF9"/>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6" name="Group 5">
            <a:extLst>
              <a:ext uri="{FF2B5EF4-FFF2-40B4-BE49-F238E27FC236}">
                <a16:creationId xmlns:a16="http://schemas.microsoft.com/office/drawing/2014/main" id="{D7224A59-2417-428A-A991-E468431BB817}"/>
              </a:ext>
            </a:extLst>
          </p:cNvPr>
          <p:cNvGrpSpPr/>
          <p:nvPr/>
        </p:nvGrpSpPr>
        <p:grpSpPr>
          <a:xfrm>
            <a:off x="6890523" y="742091"/>
            <a:ext cx="2640053" cy="664378"/>
            <a:chOff x="2375536" y="1112060"/>
            <a:chExt cx="3292636" cy="828603"/>
          </a:xfrm>
        </p:grpSpPr>
        <p:pic>
          <p:nvPicPr>
            <p:cNvPr id="7" name="Picture 6" descr="A close up of a logo&#10;&#10;Description automatically generated">
              <a:extLst>
                <a:ext uri="{FF2B5EF4-FFF2-40B4-BE49-F238E27FC236}">
                  <a16:creationId xmlns:a16="http://schemas.microsoft.com/office/drawing/2014/main" id="{BD3530AF-9771-470E-A9BF-F28AA227533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92781" y="1270168"/>
              <a:ext cx="1575391" cy="512386"/>
            </a:xfrm>
            <a:prstGeom prst="rect">
              <a:avLst/>
            </a:prstGeom>
          </p:spPr>
        </p:pic>
        <p:pic>
          <p:nvPicPr>
            <p:cNvPr id="8" name="Picture 7" descr="A yellow and red shell logo&#10;&#10;Description automatically generated">
              <a:extLst>
                <a:ext uri="{FF2B5EF4-FFF2-40B4-BE49-F238E27FC236}">
                  <a16:creationId xmlns:a16="http://schemas.microsoft.com/office/drawing/2014/main" id="{75E6A819-9F3F-4787-A707-A7415C302BFA}"/>
                </a:ext>
              </a:extLst>
            </p:cNvPr>
            <p:cNvPicPr>
              <a:picLocks noChangeAspect="1"/>
            </p:cNvPicPr>
            <p:nvPr/>
          </p:nvPicPr>
          <p:blipFill>
            <a:blip r:embed="rId4"/>
            <a:stretch>
              <a:fillRect/>
            </a:stretch>
          </p:blipFill>
          <p:spPr>
            <a:xfrm>
              <a:off x="2375536" y="1112060"/>
              <a:ext cx="985475" cy="828603"/>
            </a:xfrm>
            <a:prstGeom prst="rect">
              <a:avLst/>
            </a:prstGeom>
          </p:spPr>
        </p:pic>
      </p:grpSp>
      <p:sp>
        <p:nvSpPr>
          <p:cNvPr id="10" name="Rectangle: Diagonal Corners Snipped 9">
            <a:extLst>
              <a:ext uri="{FF2B5EF4-FFF2-40B4-BE49-F238E27FC236}">
                <a16:creationId xmlns:a16="http://schemas.microsoft.com/office/drawing/2014/main" id="{DDC44DAF-13C5-8E15-09D1-8424E2C62B9B}"/>
              </a:ext>
            </a:extLst>
          </p:cNvPr>
          <p:cNvSpPr/>
          <p:nvPr/>
        </p:nvSpPr>
        <p:spPr>
          <a:xfrm>
            <a:off x="5019471" y="3275683"/>
            <a:ext cx="6201807" cy="1216804"/>
          </a:xfrm>
          <a:prstGeom prst="snip2DiagRect">
            <a:avLst>
              <a:gd name="adj1" fmla="val 15089"/>
              <a:gd name="adj2" fmla="val 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2400" b="1" dirty="0">
                <a:solidFill>
                  <a:srgbClr val="394D8F"/>
                </a:solidFill>
              </a:rPr>
              <a:t>Multi-Zone Electric Power Consumption Forecasting using Machine Learning</a:t>
            </a:r>
            <a:endParaRPr lang="en-US" sz="2400" b="1" dirty="0">
              <a:solidFill>
                <a:srgbClr val="394D8F"/>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71276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94E319-C77C-49E2-964C-6E125D716194}"/>
              </a:ext>
            </a:extLst>
          </p:cNvPr>
          <p:cNvSpPr txBox="1"/>
          <p:nvPr/>
        </p:nvSpPr>
        <p:spPr>
          <a:xfrm>
            <a:off x="191911" y="972537"/>
            <a:ext cx="2652889" cy="400110"/>
          </a:xfrm>
          <a:prstGeom prst="rect">
            <a:avLst/>
          </a:prstGeom>
          <a:noFill/>
        </p:spPr>
        <p:txBody>
          <a:bodyPr wrap="square">
            <a:spAutoFit/>
          </a:bodyPr>
          <a:lstStyle/>
          <a:p>
            <a:r>
              <a:rPr lang="en-IN" sz="2000" b="1" dirty="0">
                <a:solidFill>
                  <a:srgbClr val="213163"/>
                </a:solidFill>
              </a:rPr>
              <a:t>Learning Objectives</a:t>
            </a:r>
            <a:endParaRPr lang="en-IN" sz="2000" dirty="0">
              <a:solidFill>
                <a:srgbClr val="213163"/>
              </a:solidFill>
            </a:endParaRPr>
          </a:p>
        </p:txBody>
      </p:sp>
      <p:sp>
        <p:nvSpPr>
          <p:cNvPr id="3" name="TextBox 2">
            <a:extLst>
              <a:ext uri="{FF2B5EF4-FFF2-40B4-BE49-F238E27FC236}">
                <a16:creationId xmlns:a16="http://schemas.microsoft.com/office/drawing/2014/main" id="{8E1F3497-5370-4874-9908-5AD45214E10B}"/>
              </a:ext>
            </a:extLst>
          </p:cNvPr>
          <p:cNvSpPr txBox="1"/>
          <p:nvPr/>
        </p:nvSpPr>
        <p:spPr>
          <a:xfrm>
            <a:off x="199809" y="6135329"/>
            <a:ext cx="795871" cy="276999"/>
          </a:xfrm>
          <a:prstGeom prst="rect">
            <a:avLst/>
          </a:prstGeom>
          <a:noFill/>
        </p:spPr>
        <p:txBody>
          <a:bodyPr wrap="square" rtlCol="0">
            <a:spAutoFit/>
          </a:bodyPr>
          <a:lstStyle/>
          <a:p>
            <a:pPr>
              <a:spcAft>
                <a:spcPts val="800"/>
              </a:spcAft>
            </a:pPr>
            <a:r>
              <a:rPr lang="en-IN" sz="1200" b="1" dirty="0">
                <a:latin typeface="+mn-lt"/>
              </a:rPr>
              <a:t>Source : </a:t>
            </a:r>
          </a:p>
        </p:txBody>
      </p:sp>
      <p:sp>
        <p:nvSpPr>
          <p:cNvPr id="4" name="TextBox 3">
            <a:extLst>
              <a:ext uri="{FF2B5EF4-FFF2-40B4-BE49-F238E27FC236}">
                <a16:creationId xmlns:a16="http://schemas.microsoft.com/office/drawing/2014/main" id="{ECE830DD-8813-42EB-B27B-B7D85423D0C7}"/>
              </a:ext>
            </a:extLst>
          </p:cNvPr>
          <p:cNvSpPr txBox="1"/>
          <p:nvPr/>
        </p:nvSpPr>
        <p:spPr>
          <a:xfrm>
            <a:off x="880529" y="6135329"/>
            <a:ext cx="1842351" cy="276999"/>
          </a:xfrm>
          <a:prstGeom prst="rect">
            <a:avLst/>
          </a:prstGeom>
          <a:noFill/>
        </p:spPr>
        <p:txBody>
          <a:bodyPr wrap="square" rtlCol="0">
            <a:spAutoFit/>
          </a:bodyPr>
          <a:lstStyle/>
          <a:p>
            <a:pPr>
              <a:spcAft>
                <a:spcPts val="800"/>
              </a:spcAft>
            </a:pPr>
            <a:r>
              <a:rPr lang="en-IN" sz="1200" dirty="0">
                <a:solidFill>
                  <a:srgbClr val="0000FF"/>
                </a:solidFill>
                <a:latin typeface="+mn-lt"/>
                <a:hlinkClick r:id="rId2">
                  <a:extLst>
                    <a:ext uri="{A12FA001-AC4F-418D-AE19-62706E023703}">
                      <ahyp:hlinkClr xmlns:ahyp="http://schemas.microsoft.com/office/drawing/2018/hyperlinkcolor" val="tx"/>
                    </a:ext>
                  </a:extLst>
                </a:hlinkClick>
              </a:rPr>
              <a:t>www.freepik.com/</a:t>
            </a:r>
            <a:endParaRPr lang="en-IN" sz="1200" dirty="0">
              <a:solidFill>
                <a:srgbClr val="0000FF"/>
              </a:solidFill>
              <a:latin typeface="+mn-lt"/>
            </a:endParaRPr>
          </a:p>
        </p:txBody>
      </p:sp>
      <p:cxnSp>
        <p:nvCxnSpPr>
          <p:cNvPr id="5" name="Straight Connector 4">
            <a:extLst>
              <a:ext uri="{FF2B5EF4-FFF2-40B4-BE49-F238E27FC236}">
                <a16:creationId xmlns:a16="http://schemas.microsoft.com/office/drawing/2014/main" id="{CA22F707-7F22-48A3-97EC-98EFB1023A55}"/>
              </a:ext>
            </a:extLst>
          </p:cNvPr>
          <p:cNvCxnSpPr/>
          <p:nvPr/>
        </p:nvCxnSpPr>
        <p:spPr>
          <a:xfrm>
            <a:off x="0" y="6055360"/>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6" name="Picture 5" descr="A ladder leading to a large yellow circle&#10;&#10;Description automatically generated">
            <a:extLst>
              <a:ext uri="{FF2B5EF4-FFF2-40B4-BE49-F238E27FC236}">
                <a16:creationId xmlns:a16="http://schemas.microsoft.com/office/drawing/2014/main" id="{E2920B14-B344-4926-9729-BC7EBD91FF9A}"/>
              </a:ext>
            </a:extLst>
          </p:cNvPr>
          <p:cNvPicPr>
            <a:picLocks noChangeAspect="1"/>
          </p:cNvPicPr>
          <p:nvPr/>
        </p:nvPicPr>
        <p:blipFill rotWithShape="1">
          <a:blip r:embed="rId3">
            <a:alphaModFix amt="85000"/>
          </a:blip>
          <a:srcRect l="13763" t="6135" r="13650"/>
          <a:stretch/>
        </p:blipFill>
        <p:spPr>
          <a:xfrm>
            <a:off x="7345680" y="1442720"/>
            <a:ext cx="4500880" cy="4632960"/>
          </a:xfrm>
          <a:prstGeom prst="rect">
            <a:avLst/>
          </a:prstGeom>
        </p:spPr>
      </p:pic>
      <p:sp>
        <p:nvSpPr>
          <p:cNvPr id="7" name="TextBox 6">
            <a:extLst>
              <a:ext uri="{FF2B5EF4-FFF2-40B4-BE49-F238E27FC236}">
                <a16:creationId xmlns:a16="http://schemas.microsoft.com/office/drawing/2014/main" id="{6C264928-EACB-4739-BDDA-6799C99356F3}"/>
              </a:ext>
            </a:extLst>
          </p:cNvPr>
          <p:cNvSpPr txBox="1"/>
          <p:nvPr/>
        </p:nvSpPr>
        <p:spPr>
          <a:xfrm>
            <a:off x="8839200" y="3168609"/>
            <a:ext cx="1503681" cy="630942"/>
          </a:xfrm>
          <a:prstGeom prst="rect">
            <a:avLst/>
          </a:prstGeom>
          <a:noFill/>
        </p:spPr>
        <p:txBody>
          <a:bodyPr wrap="square" rtlCol="0">
            <a:spAutoFit/>
          </a:bodyPr>
          <a:lstStyle/>
          <a:p>
            <a:pPr>
              <a:spcAft>
                <a:spcPts val="800"/>
              </a:spcAft>
            </a:pPr>
            <a:r>
              <a:rPr lang="en-IN" sz="3500" b="1" dirty="0">
                <a:solidFill>
                  <a:schemeClr val="tx1"/>
                </a:solidFill>
                <a:latin typeface="+mn-lt"/>
              </a:rPr>
              <a:t>GOAL</a:t>
            </a:r>
          </a:p>
        </p:txBody>
      </p:sp>
      <p:sp>
        <p:nvSpPr>
          <p:cNvPr id="13" name="Rectangle: Rounded Corners 12">
            <a:extLst>
              <a:ext uri="{FF2B5EF4-FFF2-40B4-BE49-F238E27FC236}">
                <a16:creationId xmlns:a16="http://schemas.microsoft.com/office/drawing/2014/main" id="{D28D446D-2060-051C-0003-AE791772119B}"/>
              </a:ext>
            </a:extLst>
          </p:cNvPr>
          <p:cNvSpPr/>
          <p:nvPr/>
        </p:nvSpPr>
        <p:spPr>
          <a:xfrm>
            <a:off x="499353" y="1741250"/>
            <a:ext cx="4990289" cy="826851"/>
          </a:xfrm>
          <a:prstGeom prst="roundRect">
            <a:avLst>
              <a:gd name="adj" fmla="val 50000"/>
            </a:avLst>
          </a:prstGeom>
          <a:solidFill>
            <a:srgbClr val="C5D3FF"/>
          </a:solidFill>
          <a:ln>
            <a:solidFill>
              <a:srgbClr val="394D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003063"/>
                </a:solidFill>
              </a:rPr>
              <a:t>         Data Preparation and Exploration</a:t>
            </a:r>
          </a:p>
        </p:txBody>
      </p:sp>
      <p:sp>
        <p:nvSpPr>
          <p:cNvPr id="14" name="Rectangle: Rounded Corners 13">
            <a:extLst>
              <a:ext uri="{FF2B5EF4-FFF2-40B4-BE49-F238E27FC236}">
                <a16:creationId xmlns:a16="http://schemas.microsoft.com/office/drawing/2014/main" id="{C8C9A170-8DE7-2B1E-B678-8383CCA11A62}"/>
              </a:ext>
            </a:extLst>
          </p:cNvPr>
          <p:cNvSpPr/>
          <p:nvPr/>
        </p:nvSpPr>
        <p:spPr>
          <a:xfrm>
            <a:off x="499353" y="4909225"/>
            <a:ext cx="4990289" cy="826851"/>
          </a:xfrm>
          <a:prstGeom prst="roundRect">
            <a:avLst>
              <a:gd name="adj" fmla="val 50000"/>
            </a:avLst>
          </a:prstGeom>
          <a:solidFill>
            <a:srgbClr val="C5D3FF"/>
          </a:solidFill>
          <a:ln>
            <a:solidFill>
              <a:srgbClr val="394D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rgbClr val="003063"/>
                </a:solidFill>
              </a:rPr>
              <a:t>             Machine Learning Model Evaluation</a:t>
            </a:r>
          </a:p>
        </p:txBody>
      </p:sp>
      <p:sp>
        <p:nvSpPr>
          <p:cNvPr id="15" name="Rectangle: Rounded Corners 14">
            <a:extLst>
              <a:ext uri="{FF2B5EF4-FFF2-40B4-BE49-F238E27FC236}">
                <a16:creationId xmlns:a16="http://schemas.microsoft.com/office/drawing/2014/main" id="{5A1A7B3A-7573-B05F-882D-EC5467CC4445}"/>
              </a:ext>
            </a:extLst>
          </p:cNvPr>
          <p:cNvSpPr/>
          <p:nvPr/>
        </p:nvSpPr>
        <p:spPr>
          <a:xfrm>
            <a:off x="499353" y="2797242"/>
            <a:ext cx="4990289" cy="826851"/>
          </a:xfrm>
          <a:prstGeom prst="roundRect">
            <a:avLst>
              <a:gd name="adj" fmla="val 50000"/>
            </a:avLst>
          </a:prstGeom>
          <a:solidFill>
            <a:srgbClr val="C5D3FF"/>
          </a:solidFill>
          <a:ln>
            <a:solidFill>
              <a:srgbClr val="394D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ln w="0"/>
                <a:solidFill>
                  <a:srgbClr val="003063"/>
                </a:solidFill>
              </a:rPr>
              <a:t>          Time-Series and Pattern Analysis</a:t>
            </a:r>
          </a:p>
        </p:txBody>
      </p:sp>
      <p:sp>
        <p:nvSpPr>
          <p:cNvPr id="16" name="Rectangle: Rounded Corners 15">
            <a:extLst>
              <a:ext uri="{FF2B5EF4-FFF2-40B4-BE49-F238E27FC236}">
                <a16:creationId xmlns:a16="http://schemas.microsoft.com/office/drawing/2014/main" id="{2984B061-9637-B265-CCBA-B65D9A3481B4}"/>
              </a:ext>
            </a:extLst>
          </p:cNvPr>
          <p:cNvSpPr/>
          <p:nvPr/>
        </p:nvSpPr>
        <p:spPr>
          <a:xfrm>
            <a:off x="499353" y="3853234"/>
            <a:ext cx="4990289" cy="826851"/>
          </a:xfrm>
          <a:prstGeom prst="roundRect">
            <a:avLst>
              <a:gd name="adj" fmla="val 50000"/>
            </a:avLst>
          </a:prstGeom>
          <a:solidFill>
            <a:srgbClr val="C5D3FF"/>
          </a:solidFill>
          <a:ln>
            <a:solidFill>
              <a:srgbClr val="394D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03063"/>
                </a:solidFill>
              </a:rPr>
              <a:t>             Relationship Analysis (Weather vs. Power)</a:t>
            </a:r>
            <a:endParaRPr lang="en-IN" dirty="0">
              <a:solidFill>
                <a:srgbClr val="003063"/>
              </a:solidFill>
            </a:endParaRPr>
          </a:p>
        </p:txBody>
      </p:sp>
      <p:sp>
        <p:nvSpPr>
          <p:cNvPr id="17" name="Oval 16">
            <a:extLst>
              <a:ext uri="{FF2B5EF4-FFF2-40B4-BE49-F238E27FC236}">
                <a16:creationId xmlns:a16="http://schemas.microsoft.com/office/drawing/2014/main" id="{A27E0C4F-344F-F8E1-A897-3375773C9B5C}"/>
              </a:ext>
            </a:extLst>
          </p:cNvPr>
          <p:cNvSpPr/>
          <p:nvPr/>
        </p:nvSpPr>
        <p:spPr>
          <a:xfrm>
            <a:off x="476656" y="1731523"/>
            <a:ext cx="797668" cy="846306"/>
          </a:xfrm>
          <a:prstGeom prst="ellipse">
            <a:avLst/>
          </a:prstGeom>
          <a:solidFill>
            <a:srgbClr val="394D8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800" dirty="0"/>
              <a:t>1</a:t>
            </a:r>
            <a:endParaRPr lang="en-IN" sz="4800" dirty="0"/>
          </a:p>
        </p:txBody>
      </p:sp>
      <p:sp>
        <p:nvSpPr>
          <p:cNvPr id="18" name="Oval 17">
            <a:extLst>
              <a:ext uri="{FF2B5EF4-FFF2-40B4-BE49-F238E27FC236}">
                <a16:creationId xmlns:a16="http://schemas.microsoft.com/office/drawing/2014/main" id="{772B39C4-A1CB-D5BB-3480-F09428B4FDDE}"/>
              </a:ext>
            </a:extLst>
          </p:cNvPr>
          <p:cNvSpPr/>
          <p:nvPr/>
        </p:nvSpPr>
        <p:spPr>
          <a:xfrm>
            <a:off x="476656" y="2785353"/>
            <a:ext cx="797668" cy="846306"/>
          </a:xfrm>
          <a:prstGeom prst="ellipse">
            <a:avLst/>
          </a:prstGeom>
          <a:solidFill>
            <a:srgbClr val="394D8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dirty="0">
                <a:solidFill>
                  <a:srgbClr val="FFFFFF"/>
                </a:solidFill>
                <a:latin typeface="Arial"/>
              </a:rPr>
              <a:t>2</a:t>
            </a:r>
            <a:endParaRPr kumimoji="0" lang="en-IN" sz="48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19" name="Oval 18">
            <a:extLst>
              <a:ext uri="{FF2B5EF4-FFF2-40B4-BE49-F238E27FC236}">
                <a16:creationId xmlns:a16="http://schemas.microsoft.com/office/drawing/2014/main" id="{B8087F6C-EB43-EF21-F52B-9CAEC279C8D2}"/>
              </a:ext>
            </a:extLst>
          </p:cNvPr>
          <p:cNvSpPr/>
          <p:nvPr/>
        </p:nvSpPr>
        <p:spPr>
          <a:xfrm>
            <a:off x="476656" y="3839183"/>
            <a:ext cx="797668" cy="846306"/>
          </a:xfrm>
          <a:prstGeom prst="ellipse">
            <a:avLst/>
          </a:prstGeom>
          <a:solidFill>
            <a:srgbClr val="394D8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dirty="0">
                <a:solidFill>
                  <a:srgbClr val="FFFFFF"/>
                </a:solidFill>
                <a:latin typeface="Arial"/>
              </a:rPr>
              <a:t>3</a:t>
            </a:r>
            <a:endParaRPr kumimoji="0" lang="en-IN" sz="48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20" name="Oval 19">
            <a:extLst>
              <a:ext uri="{FF2B5EF4-FFF2-40B4-BE49-F238E27FC236}">
                <a16:creationId xmlns:a16="http://schemas.microsoft.com/office/drawing/2014/main" id="{E712D21A-AE4C-1335-52A4-CE4ED2F74C55}"/>
              </a:ext>
            </a:extLst>
          </p:cNvPr>
          <p:cNvSpPr/>
          <p:nvPr/>
        </p:nvSpPr>
        <p:spPr>
          <a:xfrm>
            <a:off x="476656" y="4893012"/>
            <a:ext cx="797668" cy="846306"/>
          </a:xfrm>
          <a:prstGeom prst="ellipse">
            <a:avLst/>
          </a:prstGeom>
          <a:solidFill>
            <a:srgbClr val="394D8F"/>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4800" dirty="0">
                <a:solidFill>
                  <a:srgbClr val="FFFFFF"/>
                </a:solidFill>
                <a:latin typeface="Arial"/>
              </a:rPr>
              <a:t>4</a:t>
            </a:r>
            <a:endParaRPr kumimoji="0" lang="en-IN" sz="4800" b="0" i="0" u="none" strike="noStrike" kern="0" cap="none" spc="0" normalizeH="0" baseline="0" noProof="0" dirty="0">
              <a:ln>
                <a:noFill/>
              </a:ln>
              <a:solidFill>
                <a:srgbClr val="FFFFFF"/>
              </a:solidFill>
              <a:effectLst/>
              <a:uLnTx/>
              <a:uFillTx/>
              <a:latin typeface="Arial"/>
              <a:ea typeface="+mn-ea"/>
              <a:cs typeface="+mn-cs"/>
              <a:sym typeface="Arial"/>
            </a:endParaRPr>
          </a:p>
        </p:txBody>
      </p:sp>
    </p:spTree>
    <p:extLst>
      <p:ext uri="{BB962C8B-B14F-4D97-AF65-F5344CB8AC3E}">
        <p14:creationId xmlns:p14="http://schemas.microsoft.com/office/powerpoint/2010/main" val="29320524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35834" y="1067664"/>
            <a:ext cx="6102626" cy="400110"/>
          </a:xfrm>
          <a:prstGeom prst="rect">
            <a:avLst/>
          </a:prstGeom>
          <a:noFill/>
        </p:spPr>
        <p:txBody>
          <a:bodyPr wrap="square">
            <a:spAutoFit/>
          </a:bodyPr>
          <a:lstStyle/>
          <a:p>
            <a:r>
              <a:rPr lang="en-US" sz="1800" b="1" dirty="0">
                <a:solidFill>
                  <a:srgbClr val="213163"/>
                </a:solidFill>
              </a:rPr>
              <a:t>T</a:t>
            </a:r>
            <a:r>
              <a:rPr lang="en-IN" sz="2000" b="1" dirty="0" err="1">
                <a:solidFill>
                  <a:srgbClr val="213163"/>
                </a:solidFill>
              </a:rPr>
              <a:t>ools</a:t>
            </a:r>
            <a:r>
              <a:rPr lang="en-IN" sz="2000" b="1" dirty="0">
                <a:solidFill>
                  <a:srgbClr val="213163"/>
                </a:solidFill>
              </a:rPr>
              <a:t> and Technology used </a:t>
            </a:r>
          </a:p>
        </p:txBody>
      </p:sp>
      <p:graphicFrame>
        <p:nvGraphicFramePr>
          <p:cNvPr id="2" name="Table 1">
            <a:extLst>
              <a:ext uri="{FF2B5EF4-FFF2-40B4-BE49-F238E27FC236}">
                <a16:creationId xmlns:a16="http://schemas.microsoft.com/office/drawing/2014/main" id="{5D1AD8E5-2998-4AFA-732F-195E8F6D32B2}"/>
              </a:ext>
            </a:extLst>
          </p:cNvPr>
          <p:cNvGraphicFramePr>
            <a:graphicFrameLocks noGrp="1"/>
          </p:cNvGraphicFramePr>
          <p:nvPr>
            <p:extLst>
              <p:ext uri="{D42A27DB-BD31-4B8C-83A1-F6EECF244321}">
                <p14:modId xmlns:p14="http://schemas.microsoft.com/office/powerpoint/2010/main" val="4052951240"/>
              </p:ext>
            </p:extLst>
          </p:nvPr>
        </p:nvGraphicFramePr>
        <p:xfrm>
          <a:off x="267833" y="1485989"/>
          <a:ext cx="11567268" cy="5104520"/>
        </p:xfrm>
        <a:graphic>
          <a:graphicData uri="http://schemas.openxmlformats.org/drawingml/2006/table">
            <a:tbl>
              <a:tblPr firstRow="1" bandRow="1">
                <a:tableStyleId>{5C22544A-7EE6-4342-B048-85BDC9FD1C3A}</a:tableStyleId>
              </a:tblPr>
              <a:tblGrid>
                <a:gridCol w="2277355">
                  <a:extLst>
                    <a:ext uri="{9D8B030D-6E8A-4147-A177-3AD203B41FA5}">
                      <a16:colId xmlns:a16="http://schemas.microsoft.com/office/drawing/2014/main" val="1614729117"/>
                    </a:ext>
                  </a:extLst>
                </a:gridCol>
                <a:gridCol w="5434157">
                  <a:extLst>
                    <a:ext uri="{9D8B030D-6E8A-4147-A177-3AD203B41FA5}">
                      <a16:colId xmlns:a16="http://schemas.microsoft.com/office/drawing/2014/main" val="3695141000"/>
                    </a:ext>
                  </a:extLst>
                </a:gridCol>
                <a:gridCol w="3855756">
                  <a:extLst>
                    <a:ext uri="{9D8B030D-6E8A-4147-A177-3AD203B41FA5}">
                      <a16:colId xmlns:a16="http://schemas.microsoft.com/office/drawing/2014/main" val="783889708"/>
                    </a:ext>
                  </a:extLst>
                </a:gridCol>
              </a:tblGrid>
              <a:tr h="394840">
                <a:tc>
                  <a:txBody>
                    <a:bodyPr/>
                    <a:lstStyle/>
                    <a:p>
                      <a:pPr algn="ctr">
                        <a:buNone/>
                      </a:pPr>
                      <a:r>
                        <a:rPr lang="en-IN" sz="1800" dirty="0"/>
                        <a:t>Category</a:t>
                      </a:r>
                    </a:p>
                  </a:txBody>
                  <a:tcPr anchor="ctr">
                    <a:solidFill>
                      <a:srgbClr val="394D8F"/>
                    </a:solidFill>
                  </a:tcPr>
                </a:tc>
                <a:tc>
                  <a:txBody>
                    <a:bodyPr/>
                    <a:lstStyle/>
                    <a:p>
                      <a:pPr algn="ctr">
                        <a:buNone/>
                      </a:pPr>
                      <a:r>
                        <a:rPr lang="en-IN" sz="1800" dirty="0"/>
                        <a:t>Tool/Technology</a:t>
                      </a:r>
                    </a:p>
                  </a:txBody>
                  <a:tcPr anchor="ctr">
                    <a:solidFill>
                      <a:srgbClr val="394D8F"/>
                    </a:solidFill>
                  </a:tcPr>
                </a:tc>
                <a:tc>
                  <a:txBody>
                    <a:bodyPr/>
                    <a:lstStyle/>
                    <a:p>
                      <a:pPr algn="ctr">
                        <a:buNone/>
                      </a:pPr>
                      <a:r>
                        <a:rPr lang="en-IN" sz="1800" dirty="0"/>
                        <a:t>Key Use Cases</a:t>
                      </a:r>
                    </a:p>
                  </a:txBody>
                  <a:tcPr anchor="ctr">
                    <a:solidFill>
                      <a:srgbClr val="394D8F"/>
                    </a:solidFill>
                  </a:tcPr>
                </a:tc>
                <a:extLst>
                  <a:ext uri="{0D108BD9-81ED-4DB2-BD59-A6C34878D82A}">
                    <a16:rowId xmlns:a16="http://schemas.microsoft.com/office/drawing/2014/main" val="4231966771"/>
                  </a:ext>
                </a:extLst>
              </a:tr>
              <a:tr h="618151">
                <a:tc>
                  <a:txBody>
                    <a:bodyPr/>
                    <a:lstStyle/>
                    <a:p>
                      <a:pPr algn="ctr">
                        <a:lnSpc>
                          <a:spcPct val="150000"/>
                        </a:lnSpc>
                        <a:spcAft>
                          <a:spcPts val="130"/>
                        </a:spcAft>
                        <a:buNone/>
                      </a:pPr>
                      <a:r>
                        <a:rPr lang="en-IN" sz="1800" b="1" dirty="0"/>
                        <a:t>Programming &amp; Environment</a:t>
                      </a:r>
                      <a:endParaRPr lang="en-IN" sz="1800" dirty="0"/>
                    </a:p>
                  </a:txBody>
                  <a:tcPr anchor="ctr">
                    <a:solidFill>
                      <a:srgbClr val="C5D3FF"/>
                    </a:solidFill>
                  </a:tcPr>
                </a:tc>
                <a:tc>
                  <a:txBody>
                    <a:bodyPr/>
                    <a:lstStyle/>
                    <a:p>
                      <a:pPr algn="l">
                        <a:lnSpc>
                          <a:spcPct val="150000"/>
                        </a:lnSpc>
                        <a:spcAft>
                          <a:spcPts val="130"/>
                        </a:spcAft>
                        <a:buNone/>
                      </a:pPr>
                      <a:r>
                        <a:rPr lang="en-IN" sz="1800" b="0" dirty="0"/>
                        <a:t>Python 3, </a:t>
                      </a:r>
                      <a:r>
                        <a:rPr lang="en-IN" sz="1800" dirty="0"/>
                        <a:t>Kaggle</a:t>
                      </a:r>
                    </a:p>
                  </a:txBody>
                  <a:tcPr anchor="ctr">
                    <a:solidFill>
                      <a:srgbClr val="C5D3FF"/>
                    </a:solidFill>
                  </a:tcPr>
                </a:tc>
                <a:tc>
                  <a:txBody>
                    <a:bodyPr/>
                    <a:lstStyle/>
                    <a:p>
                      <a:pPr algn="l">
                        <a:lnSpc>
                          <a:spcPct val="150000"/>
                        </a:lnSpc>
                        <a:spcAft>
                          <a:spcPts val="130"/>
                        </a:spcAft>
                        <a:buNone/>
                      </a:pPr>
                      <a:r>
                        <a:rPr lang="en-IN" sz="1800"/>
                        <a:t>Core language, execution environment.</a:t>
                      </a:r>
                    </a:p>
                  </a:txBody>
                  <a:tcPr anchor="ctr">
                    <a:solidFill>
                      <a:srgbClr val="C5D3FF"/>
                    </a:solidFill>
                  </a:tcPr>
                </a:tc>
                <a:extLst>
                  <a:ext uri="{0D108BD9-81ED-4DB2-BD59-A6C34878D82A}">
                    <a16:rowId xmlns:a16="http://schemas.microsoft.com/office/drawing/2014/main" val="3344465351"/>
                  </a:ext>
                </a:extLst>
              </a:tr>
              <a:tr h="884440">
                <a:tc>
                  <a:txBody>
                    <a:bodyPr/>
                    <a:lstStyle/>
                    <a:p>
                      <a:pPr algn="ctr">
                        <a:lnSpc>
                          <a:spcPct val="150000"/>
                        </a:lnSpc>
                        <a:spcAft>
                          <a:spcPts val="130"/>
                        </a:spcAft>
                        <a:buNone/>
                      </a:pPr>
                      <a:r>
                        <a:rPr lang="en-IN" sz="1800" b="1" dirty="0"/>
                        <a:t>Data Handling</a:t>
                      </a:r>
                      <a:endParaRPr lang="en-IN" sz="1800" dirty="0"/>
                    </a:p>
                  </a:txBody>
                  <a:tcPr anchor="ctr">
                    <a:solidFill>
                      <a:srgbClr val="C5D3FF"/>
                    </a:solidFill>
                  </a:tcPr>
                </a:tc>
                <a:tc>
                  <a:txBody>
                    <a:bodyPr/>
                    <a:lstStyle/>
                    <a:p>
                      <a:pPr algn="l">
                        <a:lnSpc>
                          <a:spcPct val="150000"/>
                        </a:lnSpc>
                        <a:spcAft>
                          <a:spcPts val="130"/>
                        </a:spcAft>
                        <a:buNone/>
                      </a:pPr>
                      <a:r>
                        <a:rPr lang="en-IN" sz="1800" dirty="0">
                          <a:latin typeface="+mn-lt"/>
                        </a:rPr>
                        <a:t>pandas, NumPy</a:t>
                      </a:r>
                    </a:p>
                  </a:txBody>
                  <a:tcPr anchor="ctr">
                    <a:solidFill>
                      <a:srgbClr val="C5D3FF"/>
                    </a:solidFill>
                  </a:tcPr>
                </a:tc>
                <a:tc>
                  <a:txBody>
                    <a:bodyPr/>
                    <a:lstStyle/>
                    <a:p>
                      <a:pPr algn="l">
                        <a:lnSpc>
                          <a:spcPct val="150000"/>
                        </a:lnSpc>
                        <a:spcAft>
                          <a:spcPts val="130"/>
                        </a:spcAft>
                        <a:buNone/>
                      </a:pPr>
                      <a:r>
                        <a:rPr lang="en-US" sz="1800"/>
                        <a:t>Data loading, manipulation, numerical operations, time-series feature creation.</a:t>
                      </a:r>
                    </a:p>
                  </a:txBody>
                  <a:tcPr anchor="ctr">
                    <a:solidFill>
                      <a:srgbClr val="C5D3FF"/>
                    </a:solidFill>
                  </a:tcPr>
                </a:tc>
                <a:extLst>
                  <a:ext uri="{0D108BD9-81ED-4DB2-BD59-A6C34878D82A}">
                    <a16:rowId xmlns:a16="http://schemas.microsoft.com/office/drawing/2014/main" val="940705016"/>
                  </a:ext>
                </a:extLst>
              </a:tr>
              <a:tr h="884440">
                <a:tc>
                  <a:txBody>
                    <a:bodyPr/>
                    <a:lstStyle/>
                    <a:p>
                      <a:pPr algn="ctr">
                        <a:lnSpc>
                          <a:spcPct val="150000"/>
                        </a:lnSpc>
                        <a:spcAft>
                          <a:spcPts val="130"/>
                        </a:spcAft>
                        <a:buNone/>
                      </a:pPr>
                      <a:r>
                        <a:rPr lang="en-IN" sz="1800" b="1"/>
                        <a:t>Visualization</a:t>
                      </a:r>
                      <a:endParaRPr lang="en-IN" sz="1800"/>
                    </a:p>
                  </a:txBody>
                  <a:tcPr anchor="ctr">
                    <a:solidFill>
                      <a:srgbClr val="C5D3FF"/>
                    </a:solidFill>
                  </a:tcPr>
                </a:tc>
                <a:tc>
                  <a:txBody>
                    <a:bodyPr/>
                    <a:lstStyle/>
                    <a:p>
                      <a:pPr algn="l">
                        <a:lnSpc>
                          <a:spcPct val="150000"/>
                        </a:lnSpc>
                        <a:spcAft>
                          <a:spcPts val="130"/>
                        </a:spcAft>
                        <a:buNone/>
                      </a:pPr>
                      <a:r>
                        <a:rPr lang="en-IN" sz="1800" dirty="0">
                          <a:latin typeface="+mn-lt"/>
                        </a:rPr>
                        <a:t>matplotlib, seaborn, mpl_toolkits</a:t>
                      </a:r>
                    </a:p>
                  </a:txBody>
                  <a:tcPr anchor="ctr">
                    <a:solidFill>
                      <a:srgbClr val="C5D3FF"/>
                    </a:solidFill>
                  </a:tcPr>
                </a:tc>
                <a:tc>
                  <a:txBody>
                    <a:bodyPr/>
                    <a:lstStyle/>
                    <a:p>
                      <a:pPr algn="l">
                        <a:lnSpc>
                          <a:spcPct val="150000"/>
                        </a:lnSpc>
                        <a:spcAft>
                          <a:spcPts val="130"/>
                        </a:spcAft>
                        <a:buNone/>
                      </a:pPr>
                      <a:r>
                        <a:rPr lang="en-US" sz="1800" dirty="0"/>
                        <a:t>Creating plots for data exploration.</a:t>
                      </a:r>
                    </a:p>
                  </a:txBody>
                  <a:tcPr anchor="ctr">
                    <a:solidFill>
                      <a:srgbClr val="C5D3FF"/>
                    </a:solidFill>
                  </a:tcPr>
                </a:tc>
                <a:extLst>
                  <a:ext uri="{0D108BD9-81ED-4DB2-BD59-A6C34878D82A}">
                    <a16:rowId xmlns:a16="http://schemas.microsoft.com/office/drawing/2014/main" val="3894241127"/>
                  </a:ext>
                </a:extLst>
              </a:tr>
              <a:tr h="400698">
                <a:tc>
                  <a:txBody>
                    <a:bodyPr/>
                    <a:lstStyle/>
                    <a:p>
                      <a:pPr algn="ctr">
                        <a:lnSpc>
                          <a:spcPct val="150000"/>
                        </a:lnSpc>
                        <a:spcAft>
                          <a:spcPts val="130"/>
                        </a:spcAft>
                        <a:buNone/>
                      </a:pPr>
                      <a:r>
                        <a:rPr lang="en-IN" sz="1800" b="1"/>
                        <a:t>Machine Learning (Scikit-learn)</a:t>
                      </a:r>
                      <a:endParaRPr lang="en-IN" sz="1800"/>
                    </a:p>
                  </a:txBody>
                  <a:tcPr anchor="ctr">
                    <a:solidFill>
                      <a:srgbClr val="C5D3FF"/>
                    </a:solidFill>
                  </a:tcPr>
                </a:tc>
                <a:tc>
                  <a:txBody>
                    <a:bodyPr/>
                    <a:lstStyle/>
                    <a:p>
                      <a:pPr algn="l">
                        <a:lnSpc>
                          <a:spcPct val="150000"/>
                        </a:lnSpc>
                        <a:spcAft>
                          <a:spcPts val="130"/>
                        </a:spcAft>
                        <a:buNone/>
                      </a:pPr>
                      <a:r>
                        <a:rPr lang="en-IN" sz="1800" dirty="0">
                          <a:latin typeface="+mn-lt"/>
                        </a:rPr>
                        <a:t>train_test_split, StandardScaler, MultiOutputRegressor, LinearRegression, RandomForestRegressor, XGBRegressor, r2_score, mean_absolute_error (and others)</a:t>
                      </a:r>
                    </a:p>
                  </a:txBody>
                  <a:tcPr anchor="ctr">
                    <a:solidFill>
                      <a:srgbClr val="C5D3FF"/>
                    </a:solidFill>
                  </a:tcPr>
                </a:tc>
                <a:tc>
                  <a:txBody>
                    <a:bodyPr/>
                    <a:lstStyle/>
                    <a:p>
                      <a:pPr algn="l">
                        <a:lnSpc>
                          <a:spcPct val="150000"/>
                        </a:lnSpc>
                        <a:spcAft>
                          <a:spcPts val="130"/>
                        </a:spcAft>
                        <a:buNone/>
                      </a:pPr>
                      <a:r>
                        <a:rPr lang="en-US" sz="1800" dirty="0"/>
                        <a:t>Data scaling, model training (Linear, Tree, Ensemble, KNN), multi-output prediction, and performance evaluation.</a:t>
                      </a:r>
                    </a:p>
                  </a:txBody>
                  <a:tcPr anchor="ctr">
                    <a:solidFill>
                      <a:srgbClr val="C5D3FF"/>
                    </a:solidFill>
                  </a:tcPr>
                </a:tc>
                <a:extLst>
                  <a:ext uri="{0D108BD9-81ED-4DB2-BD59-A6C34878D82A}">
                    <a16:rowId xmlns:a16="http://schemas.microsoft.com/office/drawing/2014/main" val="2615778307"/>
                  </a:ext>
                </a:extLst>
              </a:tr>
            </a:tbl>
          </a:graphicData>
        </a:graphic>
      </p:graphicFrame>
    </p:spTree>
    <p:extLst>
      <p:ext uri="{BB962C8B-B14F-4D97-AF65-F5344CB8AC3E}">
        <p14:creationId xmlns:p14="http://schemas.microsoft.com/office/powerpoint/2010/main" val="564571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68356" y="1014656"/>
            <a:ext cx="6102626" cy="400110"/>
          </a:xfrm>
          <a:prstGeom prst="rect">
            <a:avLst/>
          </a:prstGeom>
          <a:noFill/>
        </p:spPr>
        <p:txBody>
          <a:bodyPr wrap="square">
            <a:spAutoFit/>
          </a:bodyPr>
          <a:lstStyle/>
          <a:p>
            <a:r>
              <a:rPr lang="en-US" sz="2000" b="1" dirty="0">
                <a:solidFill>
                  <a:srgbClr val="213163"/>
                </a:solidFill>
              </a:rPr>
              <a:t>Methodology</a:t>
            </a:r>
            <a:r>
              <a:rPr lang="en-US" sz="1800" b="1" dirty="0">
                <a:solidFill>
                  <a:srgbClr val="213163"/>
                </a:solidFill>
              </a:rPr>
              <a:t> </a:t>
            </a:r>
            <a:endParaRPr lang="en-IN" sz="1800" dirty="0">
              <a:solidFill>
                <a:srgbClr val="213163"/>
              </a:solidFill>
            </a:endParaRPr>
          </a:p>
        </p:txBody>
      </p:sp>
      <p:sp>
        <p:nvSpPr>
          <p:cNvPr id="2" name="TextBox 1">
            <a:extLst>
              <a:ext uri="{FF2B5EF4-FFF2-40B4-BE49-F238E27FC236}">
                <a16:creationId xmlns:a16="http://schemas.microsoft.com/office/drawing/2014/main" id="{101772FB-CFF9-C596-451A-B48DDD268143}"/>
              </a:ext>
            </a:extLst>
          </p:cNvPr>
          <p:cNvSpPr txBox="1"/>
          <p:nvPr/>
        </p:nvSpPr>
        <p:spPr>
          <a:xfrm>
            <a:off x="321013" y="1488332"/>
            <a:ext cx="11118715" cy="4906408"/>
          </a:xfrm>
          <a:prstGeom prst="rect">
            <a:avLst/>
          </a:prstGeom>
          <a:noFill/>
        </p:spPr>
        <p:txBody>
          <a:bodyPr wrap="square" rtlCol="0">
            <a:spAutoFit/>
          </a:bodyPr>
          <a:lstStyle/>
          <a:p>
            <a:pPr>
              <a:lnSpc>
                <a:spcPct val="150000"/>
              </a:lnSpc>
            </a:pPr>
            <a:r>
              <a:rPr lang="en-US" b="1" dirty="0"/>
              <a:t>1.Data Preparation:</a:t>
            </a:r>
            <a:r>
              <a:rPr lang="en-US" dirty="0"/>
              <a:t> This included loading the data, creating temporal features from the Datetime column (e.g., Hour, Month, IsWeekend) , checking for duplicates/nulls , and scaling the five weather features using StandardScaler.</a:t>
            </a:r>
          </a:p>
          <a:p>
            <a:pPr>
              <a:lnSpc>
                <a:spcPct val="150000"/>
              </a:lnSpc>
            </a:pPr>
            <a:r>
              <a:rPr lang="en-US" b="1" dirty="0"/>
              <a:t>2.Exploratory Data Analysis (EDA):</a:t>
            </a:r>
            <a:r>
              <a:rPr lang="en-US" dirty="0"/>
              <a:t> Visualization was used to identify trends, including Time-Series Plots of </a:t>
            </a:r>
            <a:r>
              <a:rPr lang="en-US" sz="2000" dirty="0"/>
              <a:t>power</a:t>
            </a:r>
            <a:r>
              <a:rPr lang="en-US" dirty="0"/>
              <a:t> consumption , analysis of Hourly and Monthly Patterns , and scatter plots/3D plots to examine relationships between weather, time, and power consumption. A Correlation Heatmap quantified variable relationships.</a:t>
            </a:r>
          </a:p>
          <a:p>
            <a:pPr>
              <a:lnSpc>
                <a:spcPct val="150000"/>
              </a:lnSpc>
            </a:pPr>
            <a:r>
              <a:rPr lang="en-US" altLang="en-US" sz="2000" b="1" dirty="0">
                <a:solidFill>
                  <a:schemeClr val="tx1"/>
                </a:solidFill>
                <a:latin typeface="Google Sans Text"/>
              </a:rPr>
              <a:t>3.Machine Learning Modeling:</a:t>
            </a:r>
            <a:r>
              <a:rPr lang="en-US" altLang="en-US" sz="2000" dirty="0">
                <a:solidFill>
                  <a:schemeClr val="tx1"/>
                </a:solidFill>
                <a:latin typeface="Google Sans Text"/>
              </a:rPr>
              <a:t> The data was split into training and testing sets (80/20)</a:t>
            </a:r>
            <a:r>
              <a:rPr lang="en-US" altLang="en-US" sz="900" dirty="0">
                <a:solidFill>
                  <a:schemeClr val="tx1"/>
                </a:solidFill>
              </a:rPr>
              <a:t>. </a:t>
            </a:r>
            <a:r>
              <a:rPr lang="en-US" altLang="en-US" sz="2000" dirty="0">
                <a:solidFill>
                  <a:schemeClr val="tx1"/>
                </a:solidFill>
                <a:latin typeface="Google Sans Text"/>
              </a:rPr>
              <a:t>Eight different regression models (e.g., Linear, KNN, Random Forest, XGBoost) were tested. Each model used a Multioutput Regressor to predict the power consumption of all three zones simultaneously. Performance was evaluated using the R2Score and Mean Absolute Error (MAE).</a:t>
            </a:r>
            <a:endParaRPr lang="en-US" altLang="en-US" sz="2000" dirty="0">
              <a:solidFill>
                <a:schemeClr val="tx1"/>
              </a:solidFill>
              <a:latin typeface="Arial" panose="020B0604020202020204" pitchFamily="34" charset="0"/>
            </a:endParaRPr>
          </a:p>
        </p:txBody>
      </p:sp>
    </p:spTree>
    <p:extLst>
      <p:ext uri="{BB962C8B-B14F-4D97-AF65-F5344CB8AC3E}">
        <p14:creationId xmlns:p14="http://schemas.microsoft.com/office/powerpoint/2010/main" val="2706790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Problem Statement:  </a:t>
            </a:r>
            <a:endParaRPr lang="en-IN" sz="2000" b="1" dirty="0">
              <a:solidFill>
                <a:srgbClr val="213163"/>
              </a:solidFill>
            </a:endParaRPr>
          </a:p>
        </p:txBody>
      </p:sp>
      <p:sp>
        <p:nvSpPr>
          <p:cNvPr id="2" name="TextBox 1">
            <a:extLst>
              <a:ext uri="{FF2B5EF4-FFF2-40B4-BE49-F238E27FC236}">
                <a16:creationId xmlns:a16="http://schemas.microsoft.com/office/drawing/2014/main" id="{1B04B57D-27E0-04CD-A71E-B6CF97F1F4C6}"/>
              </a:ext>
            </a:extLst>
          </p:cNvPr>
          <p:cNvSpPr txBox="1"/>
          <p:nvPr/>
        </p:nvSpPr>
        <p:spPr>
          <a:xfrm>
            <a:off x="369652" y="1585608"/>
            <a:ext cx="7937770" cy="4651979"/>
          </a:xfrm>
          <a:prstGeom prst="rect">
            <a:avLst/>
          </a:prstGeom>
          <a:noFill/>
        </p:spPr>
        <p:txBody>
          <a:bodyPr wrap="square" rtlCol="0">
            <a:spAutoFit/>
          </a:bodyPr>
          <a:lstStyle/>
          <a:p>
            <a:pPr>
              <a:lnSpc>
                <a:spcPct val="150000"/>
              </a:lnSpc>
            </a:pPr>
            <a:r>
              <a:rPr lang="en-US" sz="2000" dirty="0"/>
              <a:t>The Problem Statement is that electricity consumption is highly variable and non-linear. Unforeseen demand spikes or drops can lead to significant operational costs, grid instability, or even brownouts. Accurate forecasting is essential for resource planning. Our primary GOAL was to achieve a highly accurate predictive model for the three zones, capable of forecasting consumption with minimal error. We accomplished this using standard Tools and Technology, specifically Python with core libraries like Pandas for data handling, and the Scikit-learn and XGBoost frameworks for our model development.</a:t>
            </a:r>
            <a:endParaRPr lang="en-IN" sz="2000" dirty="0"/>
          </a:p>
        </p:txBody>
      </p:sp>
      <p:pic>
        <p:nvPicPr>
          <p:cNvPr id="9" name="Picture 8">
            <a:extLst>
              <a:ext uri="{FF2B5EF4-FFF2-40B4-BE49-F238E27FC236}">
                <a16:creationId xmlns:a16="http://schemas.microsoft.com/office/drawing/2014/main" id="{C49CDB9E-0DFB-D871-FF56-43DF09DCAB44}"/>
              </a:ext>
            </a:extLst>
          </p:cNvPr>
          <p:cNvPicPr>
            <a:picLocks noChangeAspect="1"/>
          </p:cNvPicPr>
          <p:nvPr/>
        </p:nvPicPr>
        <p:blipFill>
          <a:blip r:embed="rId2"/>
          <a:stretch>
            <a:fillRect/>
          </a:stretch>
        </p:blipFill>
        <p:spPr>
          <a:xfrm>
            <a:off x="8555198" y="1935806"/>
            <a:ext cx="3020717" cy="3049304"/>
          </a:xfrm>
          <a:prstGeom prst="rect">
            <a:avLst/>
          </a:prstGeom>
        </p:spPr>
      </p:pic>
    </p:spTree>
    <p:extLst>
      <p:ext uri="{BB962C8B-B14F-4D97-AF65-F5344CB8AC3E}">
        <p14:creationId xmlns:p14="http://schemas.microsoft.com/office/powerpoint/2010/main" val="319659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Solution:  </a:t>
            </a:r>
            <a:endParaRPr lang="en-IN" sz="2000" b="1" dirty="0">
              <a:solidFill>
                <a:srgbClr val="213163"/>
              </a:solidFill>
            </a:endParaRPr>
          </a:p>
        </p:txBody>
      </p:sp>
      <p:sp>
        <p:nvSpPr>
          <p:cNvPr id="2" name="TextBox 1">
            <a:extLst>
              <a:ext uri="{FF2B5EF4-FFF2-40B4-BE49-F238E27FC236}">
                <a16:creationId xmlns:a16="http://schemas.microsoft.com/office/drawing/2014/main" id="{06FAD719-708E-C75C-5E76-964F97FD3BAB}"/>
              </a:ext>
            </a:extLst>
          </p:cNvPr>
          <p:cNvSpPr txBox="1"/>
          <p:nvPr/>
        </p:nvSpPr>
        <p:spPr>
          <a:xfrm>
            <a:off x="314528" y="1643974"/>
            <a:ext cx="11374552" cy="4190314"/>
          </a:xfrm>
          <a:prstGeom prst="rect">
            <a:avLst/>
          </a:prstGeom>
          <a:noFill/>
        </p:spPr>
        <p:txBody>
          <a:bodyPr wrap="square" rtlCol="0">
            <a:spAutoFit/>
          </a:bodyPr>
          <a:lstStyle/>
          <a:p>
            <a:pPr marL="263525" indent="-263525">
              <a:lnSpc>
                <a:spcPct val="150000"/>
              </a:lnSpc>
              <a:buFont typeface="+mj-lt"/>
              <a:buAutoNum type="arabicPeriod"/>
            </a:pPr>
            <a:r>
              <a:rPr lang="en-US" sz="2000" dirty="0"/>
              <a:t>Develop a machine learning model to predict electric power consumption across three zones.</a:t>
            </a:r>
          </a:p>
          <a:p>
            <a:pPr marL="263525" indent="-263525">
              <a:lnSpc>
                <a:spcPct val="150000"/>
              </a:lnSpc>
              <a:buFont typeface="+mj-lt"/>
              <a:buAutoNum type="arabicPeriod"/>
            </a:pPr>
            <a:r>
              <a:rPr lang="en-US" altLang="en-US" sz="2000" dirty="0">
                <a:solidFill>
                  <a:schemeClr val="tx1"/>
                </a:solidFill>
                <a:latin typeface="+mn-lt"/>
              </a:rPr>
              <a:t>The process began by establishing the primary objective: building a machine learning model to predict power consumption in three different zones. </a:t>
            </a:r>
          </a:p>
          <a:p>
            <a:pPr marL="263525" indent="-263525">
              <a:lnSpc>
                <a:spcPct val="150000"/>
              </a:lnSpc>
              <a:buFont typeface="+mj-lt"/>
              <a:buAutoNum type="arabicPeriod"/>
            </a:pPr>
            <a:r>
              <a:rPr lang="en-US" sz="2000" dirty="0"/>
              <a:t>Perform thorough cleaning and preprocessing to ensure data quality and consistency.</a:t>
            </a:r>
          </a:p>
          <a:p>
            <a:pPr marL="263525" indent="-263525">
              <a:lnSpc>
                <a:spcPct val="150000"/>
              </a:lnSpc>
              <a:buFont typeface="+mj-lt"/>
              <a:buAutoNum type="arabicPeriod"/>
            </a:pPr>
            <a:r>
              <a:rPr lang="en-US" altLang="en-US" sz="2000" dirty="0">
                <a:solidFill>
                  <a:schemeClr val="tx1"/>
                </a:solidFill>
                <a:latin typeface="+mn-lt"/>
              </a:rPr>
              <a:t>Apply Feature Engineering to get more detailed features that help model to identify patterns</a:t>
            </a:r>
          </a:p>
          <a:p>
            <a:pPr marL="263525" indent="-263525">
              <a:lnSpc>
                <a:spcPct val="150000"/>
              </a:lnSpc>
              <a:buFont typeface="+mj-lt"/>
              <a:buAutoNum type="arabicPeriod"/>
            </a:pPr>
            <a:r>
              <a:rPr lang="en-US" altLang="en-US" sz="2000" dirty="0">
                <a:solidFill>
                  <a:schemeClr val="tx1"/>
                </a:solidFill>
                <a:latin typeface="+mn-lt"/>
              </a:rPr>
              <a:t>Perform EDA to identify seasonal patterns and trends</a:t>
            </a:r>
          </a:p>
          <a:p>
            <a:pPr marL="263525" indent="-263525">
              <a:lnSpc>
                <a:spcPct val="150000"/>
              </a:lnSpc>
              <a:buFont typeface="+mj-lt"/>
              <a:buAutoNum type="arabicPeriod"/>
            </a:pPr>
            <a:r>
              <a:rPr lang="en-US" sz="2000" dirty="0"/>
              <a:t>Experiment with various machine learning algorithms to determine the most accurate model for power prediction.</a:t>
            </a:r>
          </a:p>
          <a:p>
            <a:pPr marL="263525" indent="-263525">
              <a:lnSpc>
                <a:spcPct val="150000"/>
              </a:lnSpc>
              <a:buFont typeface="+mj-lt"/>
              <a:buAutoNum type="arabicPeriod"/>
            </a:pPr>
            <a:r>
              <a:rPr lang="en-US" sz="2000" dirty="0"/>
              <a:t>Choose the best and appropriate model to the business problem.</a:t>
            </a:r>
            <a:endParaRPr lang="en-IN" sz="2000" dirty="0"/>
          </a:p>
        </p:txBody>
      </p:sp>
    </p:spTree>
    <p:extLst>
      <p:ext uri="{BB962C8B-B14F-4D97-AF65-F5344CB8AC3E}">
        <p14:creationId xmlns:p14="http://schemas.microsoft.com/office/powerpoint/2010/main" val="30029688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255104" y="1054412"/>
            <a:ext cx="6102626" cy="400110"/>
          </a:xfrm>
          <a:prstGeom prst="rect">
            <a:avLst/>
          </a:prstGeom>
          <a:noFill/>
        </p:spPr>
        <p:txBody>
          <a:bodyPr wrap="square">
            <a:spAutoFit/>
          </a:bodyPr>
          <a:lstStyle/>
          <a:p>
            <a:r>
              <a:rPr lang="en-US" sz="2000" b="1" dirty="0">
                <a:solidFill>
                  <a:srgbClr val="213163"/>
                </a:solidFill>
              </a:rPr>
              <a:t>Screenshot of Output:  </a:t>
            </a:r>
            <a:endParaRPr lang="en-IN" sz="2000" b="1" dirty="0">
              <a:solidFill>
                <a:srgbClr val="213163"/>
              </a:solidFill>
            </a:endParaRPr>
          </a:p>
        </p:txBody>
      </p:sp>
      <p:pic>
        <p:nvPicPr>
          <p:cNvPr id="4" name="Picture 3">
            <a:extLst>
              <a:ext uri="{FF2B5EF4-FFF2-40B4-BE49-F238E27FC236}">
                <a16:creationId xmlns:a16="http://schemas.microsoft.com/office/drawing/2014/main" id="{6970071F-F0DD-CDB5-C473-D3FB6DAEEB82}"/>
              </a:ext>
            </a:extLst>
          </p:cNvPr>
          <p:cNvPicPr>
            <a:picLocks noChangeAspect="1"/>
          </p:cNvPicPr>
          <p:nvPr/>
        </p:nvPicPr>
        <p:blipFill>
          <a:blip r:embed="rId2"/>
          <a:stretch>
            <a:fillRect/>
          </a:stretch>
        </p:blipFill>
        <p:spPr>
          <a:xfrm>
            <a:off x="6906098" y="1652874"/>
            <a:ext cx="4981102" cy="3143689"/>
          </a:xfrm>
          <a:prstGeom prst="rect">
            <a:avLst/>
          </a:prstGeom>
          <a:ln>
            <a:solidFill>
              <a:schemeClr val="tx1"/>
            </a:solidFill>
          </a:ln>
        </p:spPr>
      </p:pic>
      <p:sp>
        <p:nvSpPr>
          <p:cNvPr id="5" name="TextBox 4">
            <a:extLst>
              <a:ext uri="{FF2B5EF4-FFF2-40B4-BE49-F238E27FC236}">
                <a16:creationId xmlns:a16="http://schemas.microsoft.com/office/drawing/2014/main" id="{0D51F446-2FFF-1B7D-11C7-CF65B9282F56}"/>
              </a:ext>
            </a:extLst>
          </p:cNvPr>
          <p:cNvSpPr txBox="1"/>
          <p:nvPr/>
        </p:nvSpPr>
        <p:spPr>
          <a:xfrm>
            <a:off x="389107" y="1653702"/>
            <a:ext cx="6410528" cy="3728649"/>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IN" sz="2000" dirty="0"/>
              <a:t>The image shows performance of various models on test data. Random Forest, XGBoost, </a:t>
            </a:r>
            <a:r>
              <a:rPr lang="en-IN" sz="2000" dirty="0" err="1"/>
              <a:t>Decisoin</a:t>
            </a:r>
            <a:r>
              <a:rPr lang="en-IN" sz="2000" dirty="0"/>
              <a:t> Tree and KNN Regressor  are the top-performing models explaining over 90% variance of testing data.</a:t>
            </a:r>
          </a:p>
          <a:p>
            <a:pPr marL="342900" indent="-342900">
              <a:lnSpc>
                <a:spcPct val="150000"/>
              </a:lnSpc>
              <a:buFont typeface="Wingdings" panose="05000000000000000000" pitchFamily="2" charset="2"/>
              <a:buChar char="Ø"/>
            </a:pPr>
            <a:r>
              <a:rPr lang="en-IN" sz="2000" dirty="0"/>
              <a:t>Random Forest stands out with significantly high R2 Score and low Mean Absolute Error making it more powerful model </a:t>
            </a:r>
          </a:p>
        </p:txBody>
      </p:sp>
    </p:spTree>
    <p:extLst>
      <p:ext uri="{BB962C8B-B14F-4D97-AF65-F5344CB8AC3E}">
        <p14:creationId xmlns:p14="http://schemas.microsoft.com/office/powerpoint/2010/main" val="1635949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361D872-7EC7-439F-A588-B1D90CB7A92F}"/>
              </a:ext>
            </a:extLst>
          </p:cNvPr>
          <p:cNvSpPr txBox="1"/>
          <p:nvPr/>
        </p:nvSpPr>
        <p:spPr>
          <a:xfrm>
            <a:off x="149087" y="988151"/>
            <a:ext cx="6102626" cy="400110"/>
          </a:xfrm>
          <a:prstGeom prst="rect">
            <a:avLst/>
          </a:prstGeom>
          <a:noFill/>
        </p:spPr>
        <p:txBody>
          <a:bodyPr wrap="square">
            <a:spAutoFit/>
          </a:bodyPr>
          <a:lstStyle/>
          <a:p>
            <a:r>
              <a:rPr lang="en-US" sz="2000" b="1" dirty="0">
                <a:solidFill>
                  <a:srgbClr val="213163"/>
                </a:solidFill>
              </a:rPr>
              <a:t>Conclusion:</a:t>
            </a:r>
            <a:r>
              <a:rPr lang="en-US" sz="1800" b="1" dirty="0">
                <a:solidFill>
                  <a:srgbClr val="213163"/>
                </a:solidFill>
              </a:rPr>
              <a:t>  </a:t>
            </a:r>
            <a:endParaRPr lang="en-IN" sz="1800" dirty="0">
              <a:solidFill>
                <a:srgbClr val="213163"/>
              </a:solidFill>
            </a:endParaRPr>
          </a:p>
        </p:txBody>
      </p:sp>
      <p:sp>
        <p:nvSpPr>
          <p:cNvPr id="5" name="Rectangle: Rounded Corners 4">
            <a:extLst>
              <a:ext uri="{FF2B5EF4-FFF2-40B4-BE49-F238E27FC236}">
                <a16:creationId xmlns:a16="http://schemas.microsoft.com/office/drawing/2014/main" id="{80FEDF3B-737A-AA54-916E-19EBA5C1315B}"/>
              </a:ext>
            </a:extLst>
          </p:cNvPr>
          <p:cNvSpPr/>
          <p:nvPr/>
        </p:nvSpPr>
        <p:spPr>
          <a:xfrm>
            <a:off x="379379" y="1507788"/>
            <a:ext cx="11128443" cy="4756825"/>
          </a:xfrm>
          <a:prstGeom prst="roundRect">
            <a:avLst>
              <a:gd name="adj" fmla="val 2966"/>
            </a:avLst>
          </a:prstGeom>
          <a:solidFill>
            <a:srgbClr val="C5D3FF"/>
          </a:solidFill>
          <a:ln>
            <a:solidFill>
              <a:srgbClr val="394D8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9C872101-8A5F-16DD-9796-DAB2D54DC644}"/>
              </a:ext>
            </a:extLst>
          </p:cNvPr>
          <p:cNvSpPr>
            <a:spLocks noChangeArrowheads="1"/>
          </p:cNvSpPr>
          <p:nvPr/>
        </p:nvSpPr>
        <p:spPr bwMode="auto">
          <a:xfrm>
            <a:off x="441420" y="1624050"/>
            <a:ext cx="11105312" cy="4613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i="0" u="none" strike="noStrike" cap="none" normalizeH="0" baseline="0" dirty="0">
                <a:ln>
                  <a:noFill/>
                </a:ln>
                <a:solidFill>
                  <a:schemeClr val="tx1"/>
                </a:solidFill>
                <a:effectLst/>
                <a:latin typeface="Google Sans Text"/>
              </a:rPr>
              <a:t>In conclusion, this project successfully delivered a highly accurate, deployable solution for multi-zone electric power consumption forecasting. Our methodology, which effectively integrated engineered temporal features (like Hour and Month) with external weather data, was validated by exceptional model performance.</a:t>
            </a:r>
            <a:endParaRPr kumimoji="0" lang="en-US" altLang="en-US" sz="200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i="0" u="none" strike="noStrike" cap="none" normalizeH="0" baseline="0" dirty="0">
                <a:ln>
                  <a:noFill/>
                </a:ln>
                <a:solidFill>
                  <a:schemeClr val="tx1"/>
                </a:solidFill>
                <a:effectLst/>
                <a:latin typeface="Google Sans Text"/>
              </a:rPr>
              <a:t>The Random Forest Regressor was identified as the optimal model, achieving an R2 Score of over 0.99</a:t>
            </a:r>
            <a:r>
              <a:rPr lang="en-US" altLang="en-US" sz="2000" dirty="0">
                <a:solidFill>
                  <a:schemeClr val="tx1"/>
                </a:solidFill>
                <a:latin typeface="Google Sans Text"/>
              </a:rPr>
              <a:t>% </a:t>
            </a:r>
            <a:r>
              <a:rPr kumimoji="0" lang="en-US" altLang="en-US" sz="2000" i="0" u="none" strike="noStrike" cap="none" normalizeH="0" baseline="0" dirty="0">
                <a:ln>
                  <a:noFill/>
                </a:ln>
                <a:solidFill>
                  <a:schemeClr val="tx1"/>
                </a:solidFill>
                <a:effectLst/>
                <a:latin typeface="Google Sans Text"/>
              </a:rPr>
              <a:t>and the lowest Mean Absolute Error (MAE) of just 371.98, demonstrating its capability to explain nearly all the variance in complex, non-linear consumption data.</a:t>
            </a:r>
            <a:endParaRPr kumimoji="0" lang="en-US" altLang="en-US" sz="2000" i="0" u="none" strike="noStrike" cap="none" normalizeH="0" baseline="0" dirty="0">
              <a:ln>
                <a:noFill/>
              </a:ln>
              <a:solidFill>
                <a:schemeClr val="tx1"/>
              </a:solidFill>
              <a:effectLst/>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2000" i="0" u="none" strike="noStrike" cap="none" normalizeH="0" baseline="0" dirty="0">
                <a:ln>
                  <a:noFill/>
                </a:ln>
                <a:solidFill>
                  <a:schemeClr val="tx1"/>
                </a:solidFill>
                <a:effectLst/>
                <a:latin typeface="Google Sans Text"/>
              </a:rPr>
              <a:t>This level of high-accuracy prediction is essential. It provides utility providers with a powerful, low-error tool that can be directly applied to optimize energy trading, improve scheduling efficiency, and enhance overall grid stability.</a:t>
            </a:r>
            <a:endParaRPr kumimoji="0" lang="en-US" altLang="en-US" sz="20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1988358"/>
      </p:ext>
    </p:extLst>
  </p:cSld>
  <p:clrMapOvr>
    <a:masterClrMapping/>
  </p:clrMapOvr>
</p:sld>
</file>

<file path=ppt/theme/theme1.xml><?xml version="1.0" encoding="utf-8"?>
<a:theme xmlns:a="http://schemas.openxmlformats.org/drawingml/2006/main" name="Session 01 Design Thinking &amp; Critical Thinking">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ession 01 Design Thinking &amp; Critical Thinking" id="{1DE73F69-F87A-4ED3-81C1-82D2BA622E0C}" vid="{37568650-F724-47C7-905E-9640F8017497}"/>
    </a:ext>
  </a:extLst>
</a:theme>
</file>

<file path=docProps/app.xml><?xml version="1.0" encoding="utf-8"?>
<Properties xmlns="http://schemas.openxmlformats.org/officeDocument/2006/extended-properties" xmlns:vt="http://schemas.openxmlformats.org/officeDocument/2006/docPropsVTypes">
  <Template>Session 01 Design Thinking &amp; Critical Thinking</Template>
  <TotalTime>407</TotalTime>
  <Words>717</Words>
  <Application>Microsoft Office PowerPoint</Application>
  <PresentationFormat>Widescreen</PresentationFormat>
  <Paragraphs>50</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Google Sans Text</vt:lpstr>
      <vt:lpstr>Wingdings</vt:lpstr>
      <vt:lpstr>Session 01 Design Thinking &amp; Critical Thinking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Mahesh Kurhe</dc:creator>
  <cp:lastModifiedBy>Viswanath Gadde</cp:lastModifiedBy>
  <cp:revision>6</cp:revision>
  <dcterms:created xsi:type="dcterms:W3CDTF">2024-12-31T09:40:01Z</dcterms:created>
  <dcterms:modified xsi:type="dcterms:W3CDTF">2025-11-08T10:05:09Z</dcterms:modified>
</cp:coreProperties>
</file>